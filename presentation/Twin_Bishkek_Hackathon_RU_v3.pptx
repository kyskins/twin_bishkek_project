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e22025d17f4d90" /><Relationship Type="http://schemas.openxmlformats.org/officeDocument/2006/relationships/extended-properties" Target="/docProps/app.xml" Id="R235ffa89c7e74efa" /><Relationship Type="http://schemas.openxmlformats.org/officeDocument/2006/relationships/officeDocument" Target="/ppt/presentation.xml" Id="R9503b0c06e3d47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b7854d3f6b442f"/>
  </p:sldMasterIdLst>
  <p:notesMasterIdLst>
    <p:notesMasterId xmlns:r="http://schemas.openxmlformats.org/officeDocument/2006/relationships" r:id="Rdf56f679926d4142"/>
  </p:notesMasterIdLst>
  <p:sldIdLst>
    <p:sldId xmlns:r="http://schemas.openxmlformats.org/officeDocument/2006/relationships" id="256" r:id="R3e484c21fd384e9c"/>
    <p:sldId xmlns:r="http://schemas.openxmlformats.org/officeDocument/2006/relationships" id="257" r:id="R800be6c8a04f4611"/>
    <p:sldId xmlns:r="http://schemas.openxmlformats.org/officeDocument/2006/relationships" id="258" r:id="R8bd5958d2bbc4b54"/>
    <p:sldId xmlns:r="http://schemas.openxmlformats.org/officeDocument/2006/relationships" id="259" r:id="R9fdba0260b374059"/>
    <p:sldId xmlns:r="http://schemas.openxmlformats.org/officeDocument/2006/relationships" id="260" r:id="Rf9145c1e65e64dae"/>
    <p:sldId xmlns:r="http://schemas.openxmlformats.org/officeDocument/2006/relationships" id="261" r:id="R3d0e82c4128f471c"/>
    <p:sldId xmlns:r="http://schemas.openxmlformats.org/officeDocument/2006/relationships" id="262" r:id="R1681318b4d1b486f"/>
    <p:sldId xmlns:r="http://schemas.openxmlformats.org/officeDocument/2006/relationships" id="263" r:id="R8a820364a0584c00"/>
    <p:sldId xmlns:r="http://schemas.openxmlformats.org/officeDocument/2006/relationships" id="264" r:id="Rb154ea52d17648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31060fb5634a79" /><Relationship Type="http://schemas.openxmlformats.org/officeDocument/2006/relationships/slideMaster" Target="/ppt/slideMasters/slideMaster1.xml" Id="R62b7854d3f6b442f" /><Relationship Type="http://schemas.openxmlformats.org/officeDocument/2006/relationships/notesMaster" Target="/ppt/notesMasters/notesMaster1.xml" Id="Rdf56f679926d4142" /><Relationship Type="http://schemas.openxmlformats.org/officeDocument/2006/relationships/presProps" Target="/ppt/presProps.xml" Id="R84edecf678564074" /><Relationship Type="http://schemas.openxmlformats.org/officeDocument/2006/relationships/tableStyles" Target="/ppt/tableStyles.xml" Id="R4d8b41b2be8148fc" /><Relationship Type="http://schemas.openxmlformats.org/officeDocument/2006/relationships/slide" Target="/ppt/slides/slide1.xml" Id="R3e484c21fd384e9c" /><Relationship Type="http://schemas.openxmlformats.org/officeDocument/2006/relationships/slide" Target="/ppt/slides/slide2.xml" Id="R800be6c8a04f4611" /><Relationship Type="http://schemas.openxmlformats.org/officeDocument/2006/relationships/slide" Target="/ppt/slides/slide3.xml" Id="R8bd5958d2bbc4b54" /><Relationship Type="http://schemas.openxmlformats.org/officeDocument/2006/relationships/slide" Target="/ppt/slides/slide4.xml" Id="R9fdba0260b374059" /><Relationship Type="http://schemas.openxmlformats.org/officeDocument/2006/relationships/slide" Target="/ppt/slides/slide5.xml" Id="Rf9145c1e65e64dae" /><Relationship Type="http://schemas.openxmlformats.org/officeDocument/2006/relationships/slide" Target="/ppt/slides/slide6.xml" Id="R3d0e82c4128f471c" /><Relationship Type="http://schemas.openxmlformats.org/officeDocument/2006/relationships/slide" Target="/ppt/slides/slide7.xml" Id="R1681318b4d1b486f" /><Relationship Type="http://schemas.openxmlformats.org/officeDocument/2006/relationships/slide" Target="/ppt/slides/slide8.xml" Id="R8a820364a0584c00" /><Relationship Type="http://schemas.openxmlformats.org/officeDocument/2006/relationships/slide" Target="/ppt/slides/slide9.xml" Id="Rb154ea52d17648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2ddd14184648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Twin Bishkek">
      <a:dk1>
        <a:srgbClr val="000000"/>
      </a:dk1>
      <a:lt1>
        <a:srgbClr val="FFFFFF"/>
      </a:lt1>
      <a:dk2>
        <a:srgbClr val="10141D"/>
      </a:dk2>
      <a:lt2>
        <a:srgbClr val="D9DEE5"/>
      </a:lt2>
      <a:accent1>
        <a:srgbClr val="0071E3"/>
      </a:accent1>
      <a:accent2>
        <a:srgbClr val="2D9E66"/>
      </a:accent2>
      <a:accent3>
        <a:srgbClr val="C27A09"/>
      </a:accent3>
      <a:accent4>
        <a:srgbClr val="C54843"/>
      </a:accent4>
      <a:accent5>
        <a:srgbClr val="7357B7"/>
      </a:accent5>
      <a:accent6>
        <a:srgbClr val="4797A5"/>
      </a:accent6>
      <a:hlink>
        <a:srgbClr val="0071E3"/>
      </a:hlink>
      <a:folHlink>
        <a:srgbClr val="7357B7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Twin Bishke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f8a56c5b824466" /><Relationship Type="http://schemas.openxmlformats.org/officeDocument/2006/relationships/notesMaster" Target="/ppt/notesMasters/notesMaster1.xml" Id="R1d7f436bce6441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5fc7249cd743a6" /><Relationship Type="http://schemas.openxmlformats.org/officeDocument/2006/relationships/notesMaster" Target="/ppt/notesMasters/notesMaster1.xml" Id="R1ead24ae1a3141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76e5a8f50a4150" /><Relationship Type="http://schemas.openxmlformats.org/officeDocument/2006/relationships/notesMaster" Target="/ppt/notesMasters/notesMaster1.xml" Id="R4a6586bba19e4d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60237d955b4cc3" /><Relationship Type="http://schemas.openxmlformats.org/officeDocument/2006/relationships/notesMaster" Target="/ppt/notesMasters/notesMaster1.xml" Id="Ra59a6127914042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648a7e200b4146" /><Relationship Type="http://schemas.openxmlformats.org/officeDocument/2006/relationships/notesMaster" Target="/ppt/notesMasters/notesMaster1.xml" Id="R07f2a8a34d994e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37dbc5fd344e0d" /><Relationship Type="http://schemas.openxmlformats.org/officeDocument/2006/relationships/notesMaster" Target="/ppt/notesMasters/notesMaster1.xml" Id="R502a0a54ed9040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07d43a3dbd4277" /><Relationship Type="http://schemas.openxmlformats.org/officeDocument/2006/relationships/notesMaster" Target="/ppt/notesMasters/notesMaster1.xml" Id="Re075b7bdf57948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a770c8743242c1" /><Relationship Type="http://schemas.openxmlformats.org/officeDocument/2006/relationships/notesMaster" Target="/ppt/notesMasters/notesMaster1.xml" Id="R0d1bf870380648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c374d0f5f4454d" /><Relationship Type="http://schemas.openxmlformats.org/officeDocument/2006/relationships/notesMaster" Target="/ppt/notesMasters/notesMaster1.xml" Id="R391171693cab4a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Открытие, около 15 секунд. Twin Bishkek помогает проверить последствия городского решения до того, как оно станет проектом на местности. Сейчас это интерактивный прототип для сценарного анализа, а не готовый официальный прогноз.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концепции: пользовательское ТЗ Twin_Bishkek.docx. Возможности прототипа сверены с Twin_Bishkek_project/README.md и исходным кодом на 9 октября 2026 года.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проблема: решения о застройке, транспорте и событиях часто трудно сопоставить по последствиям для конкретного района. Twin Bishkek предлагает сценарный способ связать объект с локальными изменениями транспорта, воздуха и комфорта, сравнить альтернативы и объяснить вклад факторов.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ценностное предложение продукта, а не утверждение, что все городские проблемы уже решены или что текущая модель даёт точный прогноз. Расчёты прототипа пока являются модельными оценками и требуют калибровки на фактических данных. Постановка связана с TZ_Twin_Bishkek.docx.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Демо, около 25 секунд. Выберите район Джал, объект ЖК, будний день и 08:00. Затем измените масштаб или включите перекрытие. Веб-прототип пересчитывает показатели, показывает вклад факторов и обновляет 3D-модель и сценарный слой карты.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Функции перечислены по frontend/index.html, simulator.py и README.md. Числовой результат сейчас основан на прототипных коэффициентах и не является откалиброванным прогнозом.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графика — функции _traffic_time_factor и _peak в simulator.py. Значения рассчитаны из коэффициентов прототипа на 9 октября 2026 года.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Важно проговорить: профиль 08:00 и 18:00 пока является допущением сценарной модели. После получения лицензированной истории по сегментам его нужно проверить по наблюдениям и скорректировать.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Логика следует из TZ_Twin_Bishkek.docx и текущего класса TwinBishkekSimulator. Прототип показывает факторную разбивку расчёта.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Все направления и коэффициенты пока являются допущениями калибруемой модели. Здесь не заявляется, что величина эффекта подтверждена измерениями по улицам.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Текущая карта использует 2GIS MapGL и событие trafficscore. По официальной документации trafficscore содержит общий текущий score, а не таблицу по каждой улице: https://docs.2gis.com/mapgl/reference/interface.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Сценарная карта строит линии поверх дорожной геометрии OpenStreetMap из встроенного снимка. Она отражает формулу проекта и не является прогнозом 2GIS. Источник и ограничения: Twin_Bishkek_project/README.md и frontend/index.html.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Атрибуция дорожной геометрии: https://www.openstreetmap.org/copyright.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Состояние SQLite сверено 9 октября 2026 года: 1 traffic_observation и 97 environment_snapshots. Дорожная сеть в frontend/index.html помечена снимком 8 октября 2026 года. Источники: Twin_Bishkek_project/data/twin_bishkek.sqlite3, README.md и frontend/index.html.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CAMS Global в Open-Meteo указан с пространственным разрешением около 0,4 градуса или 45 км, шагом 3 часа и обновлением модели каждые 12 часов: https://open-meteo.com/en/docs/air-quality-api. Сборщик приложения опрашивает API чаще, но новые снимки появляются только при новых временах данных провайдера.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MapGL TrafficScoreEvent содержит текущий score: https://docs.2gis.com/mapgl/reference/interface. Архив из одного score не позволяет валидировать прогноз по каждому дорожному сегменту.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учитывает уже обсуждаемое сотрудничество с 2GIS. Перед началом сбора нужно согласовать поля по сегментам, покрытие, периодичность и условия лицензии, затем сохранять историю и проверять модель на отложенных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Официальная документация подтверждает, что Traffic API Proxy для карт передаёт трафик в векторном или растровом формате и обслуживает MapGL/Maps: https://docs.2gis.com/en/on-premise-api-platform/architecture/trafficproxy и https://docs.2gis.com/en/on-premise-api-platform/architecture/maps. Эти страницы не подтверждают готовый публичный контракт с числовыми скоростями по каждому сегменту, поэтому поля и права хранения нужно запросить у 2GIS.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Закрытие, около 20 секунд. По информации команды, Twin Bishkek уже обсудили с 2GIS, и партнёр готов сотрудничать и предоставить данные для дальнейшего обучения и калибровки модели. Начинаем с предложенного пилота в Джале, затем согласуем поля данных, покрытие дорог, периодичность, права хранения и условия использования. Результат проверим на отложенных наблюдениях по покрытию сети и ошибке модели.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Статус сотрудничества передан командой проекта в этой беседе. Конкретный состав набора, расписание и лицензионные условия требуют отдельного согласования. Пилот в Джале — предложение команды.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3ad668c8864c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6ce7f285d40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18a3eb4f0141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c93149910c46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33cece2f7d44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5e522befa4d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09FB5E-6F98-483F-B754-04256390C2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CC3FA4-59A5-47A6-B951-E05994DD579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A3E75D8-7BDA-4522-8DC3-FD1CD767E4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E2C0CA-F7BC-4E6A-A3B7-2FB7590033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4A684D3-B79C-42F5-B712-FBBBFD3A82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3C47F6-F1FC-468F-A241-5350F2F1EB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90BF5F-8DD8-4364-967C-ACA957F828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449F70-EA8F-4789-889C-C2339315A3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ABF3E4-4DE4-4F72-B168-F95318C9F8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B65E1C-5C5F-4E0C-995B-803993F26A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820ddda7064943" /><Relationship Type="http://schemas.openxmlformats.org/officeDocument/2006/relationships/slideLayout" Target="/ppt/slideLayouts/slideLayout1.xml" Id="R299c1fa2cf4e45d7" /><Relationship Type="http://schemas.openxmlformats.org/officeDocument/2006/relationships/slideLayout" Target="/ppt/slideLayouts/slideLayout2.xml" Id="R0aa6c5480aeb4945" /><Relationship Type="http://schemas.openxmlformats.org/officeDocument/2006/relationships/slideLayout" Target="/ppt/slideLayouts/slideLayout3.xml" Id="Ra070dc90e7494faf" /><Relationship Type="http://schemas.openxmlformats.org/officeDocument/2006/relationships/slideLayout" Target="/ppt/slideLayouts/slideLayout4.xml" Id="R66c76d692bde4723" /><Relationship Type="http://schemas.openxmlformats.org/officeDocument/2006/relationships/slideLayout" Target="/ppt/slideLayouts/slideLayout5.xml" Id="Rb5e5b99377ea4da4" /><Relationship Type="http://schemas.openxmlformats.org/officeDocument/2006/relationships/slideLayout" Target="/ppt/slideLayouts/slideLayout6.xml" Id="R4470faceb7814f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9c1fa2cf4e45d7"/>
    <p:sldLayoutId xmlns:r="http://schemas.openxmlformats.org/officeDocument/2006/relationships" id="2147483650" r:id="R0aa6c5480aeb4945"/>
    <p:sldLayoutId xmlns:r="http://schemas.openxmlformats.org/officeDocument/2006/relationships" id="2147483651" r:id="Ra070dc90e7494faf"/>
    <p:sldLayoutId xmlns:r="http://schemas.openxmlformats.org/officeDocument/2006/relationships" id="2147483652" r:id="R66c76d692bde4723"/>
    <p:sldLayoutId xmlns:r="http://schemas.openxmlformats.org/officeDocument/2006/relationships" id="2147483653" r:id="Rb5e5b99377ea4da4"/>
    <p:sldLayoutId xmlns:r="http://schemas.openxmlformats.org/officeDocument/2006/relationships" id="2147483654" r:id="R4470faceb7814f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Twin Bishkek">
      <a:dk1>
        <a:srgbClr val="000000"/>
      </a:dk1>
      <a:lt1>
        <a:srgbClr val="FFFFFF"/>
      </a:lt1>
      <a:dk2>
        <a:srgbClr val="10141D"/>
      </a:dk2>
      <a:lt2>
        <a:srgbClr val="D9DEE5"/>
      </a:lt2>
      <a:accent1>
        <a:srgbClr val="0071E3"/>
      </a:accent1>
      <a:accent2>
        <a:srgbClr val="2D9E66"/>
      </a:accent2>
      <a:accent3>
        <a:srgbClr val="C27A09"/>
      </a:accent3>
      <a:accent4>
        <a:srgbClr val="C54843"/>
      </a:accent4>
      <a:accent5>
        <a:srgbClr val="7357B7"/>
      </a:accent5>
      <a:accent6>
        <a:srgbClr val="4797A5"/>
      </a:accent6>
      <a:hlink>
        <a:srgbClr val="0071E3"/>
      </a:hlink>
      <a:folHlink>
        <a:srgbClr val="7357B7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Twin Bishke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b3a4c2cc44359" /><Relationship Type="http://schemas.openxmlformats.org/officeDocument/2006/relationships/notesSlide" Target="/ppt/notesSlides/notesSlide1.xml" Id="Rd9b3ceac17444c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23e191f8c64988" /><Relationship Type="http://schemas.openxmlformats.org/officeDocument/2006/relationships/notesSlide" Target="/ppt/notesSlides/notesSlide2.xml" Id="R3c80e54735444f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bf6d8ae65e4afd" /><Relationship Type="http://schemas.openxmlformats.org/officeDocument/2006/relationships/notesSlide" Target="/ppt/notesSlides/notesSlide3.xml" Id="Rda92011149d04b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9cfac469404dee" /><Relationship Type="http://schemas.openxmlformats.org/officeDocument/2006/relationships/chart" Target="/ppt/slides/charts/chart1.xml" Id="R764c0f43efaa4a7b" /><Relationship Type="http://schemas.openxmlformats.org/officeDocument/2006/relationships/notesSlide" Target="/ppt/notesSlides/notesSlide4.xml" Id="Rfa87a1a7c0fc4c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8d8f1a2cdf4341" /><Relationship Type="http://schemas.openxmlformats.org/officeDocument/2006/relationships/notesSlide" Target="/ppt/notesSlides/notesSlide5.xml" Id="R5a7dbd23e66f4a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3a26a965c6412d" /><Relationship Type="http://schemas.openxmlformats.org/officeDocument/2006/relationships/notesSlide" Target="/ppt/notesSlides/notesSlide6.xml" Id="R7af7a794bd8b45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4081e93df74347" /><Relationship Type="http://schemas.openxmlformats.org/officeDocument/2006/relationships/notesSlide" Target="/ppt/notesSlides/notesSlide7.xml" Id="Rbaecc85b06b546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36a8860a2e41c6" /><Relationship Type="http://schemas.openxmlformats.org/officeDocument/2006/relationships/notesSlide" Target="/ppt/notesSlides/notesSlide8.xml" Id="R5701894af4b14d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0a3dc82d204c6b" /><Relationship Type="http://schemas.openxmlformats.org/officeDocument/2006/relationships/notesSlide" Target="/ppt/notesSlides/notesSlide9.xml" Id="Re0ac7631bf1b49d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Будни</c:v>
          </c:tx>
          <c:spPr>
            <a:ln xmlns:a="http://schemas.openxmlformats.org/drawingml/2006/main" w="32385">
              <a:solidFill>
                <a:srgbClr val="0071E3"/>
              </a:solidFill>
              <a:prstDash val="solid"/>
            </a:ln>
          </c:spPr>
          <c:marker>
            <c:symbol val="none"/>
          </c:marker>
          <c:cat>
            <c:numRef>
              <c:f>'Chart Data'!$A$2:$A$14</c:f>
              <c:numCache>
                <c:formatCode>General</c:formatCode>
                <c:ptCount val="13"/>
                <c:pt idx="0">
                  <c:v>00</c:v>
                </c:pt>
                <c:pt idx="1">
                  <c:v>02</c:v>
                </c:pt>
                <c:pt idx="2">
                  <c:v>04</c:v>
                </c:pt>
                <c:pt idx="3">
                  <c:v>06</c:v>
                </c:pt>
                <c:pt idx="4">
                  <c:v>08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23</c:v>
                </c:pt>
              </c:numCache>
            </c:numRef>
          </c:cat>
          <c:val>
            <c:numRef>
              <c:f>'Chart Data'!$B$2:$B$14</c:f>
              <c:numCache>
                <c:formatCode>0.0</c:formatCode>
                <c:ptCount val="13"/>
                <c:pt idx="0">
                  <c:v>0.624</c:v>
                </c:pt>
                <c:pt idx="1">
                  <c:v>0.62</c:v>
                </c:pt>
                <c:pt idx="2">
                  <c:v>0.639</c:v>
                </c:pt>
                <c:pt idx="3">
                  <c:v>0.931</c:v>
                </c:pt>
                <c:pt idx="4">
                  <c:v>1.445</c:v>
                </c:pt>
                <c:pt idx="5">
                  <c:v>1.045</c:v>
                </c:pt>
                <c:pt idx="6">
                  <c:v>0.847</c:v>
                </c:pt>
                <c:pt idx="7">
                  <c:v>0.901</c:v>
                </c:pt>
                <c:pt idx="8">
                  <c:v>1.219</c:v>
                </c:pt>
                <c:pt idx="9">
                  <c:v>1.545</c:v>
                </c:pt>
                <c:pt idx="10">
                  <c:v>1.104</c:v>
                </c:pt>
                <c:pt idx="11">
                  <c:v>0.696</c:v>
                </c:pt>
                <c:pt idx="12">
                  <c:v>0.639</c:v>
                </c:pt>
              </c:numCache>
            </c:numRef>
          </c:val>
          <c:smooth val="1"/>
        </c:ser>
        <c:ser>
          <c:idx val="1"/>
          <c:order val="1"/>
          <c:tx>
            <c:v>Выходной</c:v>
          </c:tx>
          <c:spPr>
            <a:ln xmlns:a="http://schemas.openxmlformats.org/drawingml/2006/main" w="28575">
              <a:solidFill>
                <a:srgbClr val="2D9E66"/>
              </a:solidFill>
              <a:prstDash val="solid"/>
            </a:ln>
          </c:spPr>
          <c:marker>
            <c:symbol val="none"/>
          </c:marker>
          <c:cat>
            <c:numRef>
              <c:f>'Chart Data'!$C$2:$C$14</c:f>
              <c:numCache>
                <c:formatCode>General</c:formatCode>
                <c:ptCount val="13"/>
                <c:pt idx="0">
                  <c:v>00</c:v>
                </c:pt>
                <c:pt idx="1">
                  <c:v>02</c:v>
                </c:pt>
                <c:pt idx="2">
                  <c:v>04</c:v>
                </c:pt>
                <c:pt idx="3">
                  <c:v>06</c:v>
                </c:pt>
                <c:pt idx="4">
                  <c:v>08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23</c:v>
                </c:pt>
              </c:numCache>
            </c:numRef>
          </c:cat>
          <c:val>
            <c:numRef>
              <c:f>'Chart Data'!$D$2:$D$14</c:f>
              <c:numCache>
                <c:formatCode>0.0</c:formatCode>
                <c:ptCount val="13"/>
                <c:pt idx="0">
                  <c:v>0.722</c:v>
                </c:pt>
                <c:pt idx="1">
                  <c:v>0.72</c:v>
                </c:pt>
                <c:pt idx="2">
                  <c:v>0.73</c:v>
                </c:pt>
                <c:pt idx="3">
                  <c:v>0.875</c:v>
                </c:pt>
                <c:pt idx="4">
                  <c:v>1.159</c:v>
                </c:pt>
                <c:pt idx="5">
                  <c:v>1.103</c:v>
                </c:pt>
                <c:pt idx="6">
                  <c:v>1.143</c:v>
                </c:pt>
                <c:pt idx="7">
                  <c:v>1.175</c:v>
                </c:pt>
                <c:pt idx="8">
                  <c:v>1.238</c:v>
                </c:pt>
                <c:pt idx="9">
                  <c:v>1.309</c:v>
                </c:pt>
                <c:pt idx="10">
                  <c:v>1.009</c:v>
                </c:pt>
                <c:pt idx="11">
                  <c:v>0.765</c:v>
                </c:pt>
                <c:pt idx="12">
                  <c:v>0.731</c:v>
                </c:pt>
              </c:numCache>
            </c:numRef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7E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69717C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4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59F76-086C-4D08-AD0E-DA44E0FA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48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A7BCD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A7BC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7BCD5"/>
                </a:solidFill>
                <a:latin typeface="Helvetica Neue"/>
                <a:ea typeface="Helvetica Neue"/>
                <a:cs typeface="Helvetica Neue"/>
              </a:rPr>
              <a:t>TWIN BISHKEK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5A343-5CAF-490C-8504-1A28CDAA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Цифровой двойник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5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городских решений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EA97B-8A97-48D7-9E11-D191EB22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6381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D2D8E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025" b="0">
                <a:solidFill>
                  <a:srgbClr val="D2D8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2D8E1"/>
                </a:solidFill>
                <a:latin typeface="Helvetica Neue"/>
                <a:ea typeface="Helvetica Neue"/>
                <a:cs typeface="Helvetica Neue"/>
              </a:rPr>
              <a:t>Проверяем, как застройка, транспорт и события меняют район до реализации проекта.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7F2C3-AF89-43CE-92EA-B19766A0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8E9AA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8E9A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E9AA9"/>
                </a:solidFill>
                <a:latin typeface="Helvetica Neue"/>
                <a:ea typeface="Helvetica Neue"/>
                <a:cs typeface="Helvetica Neue"/>
              </a:rPr>
              <a:t>БИШКЕК · СИСТЕМА ПОДДЕРЖКИ ГОРОДСКИХ РЕШЕНИЙ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85D7F-C3CE-46BD-A355-B52ACAB0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19275"/>
            <a:ext cx="28384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55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1455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55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21D05-931A-4CEB-96DD-24BA687B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ЧАСА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СЦЕНАРИЕВ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3F9CE-93E2-4EE9-9745-4945F629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0483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8E9AA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8E9AA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E9AA9"/>
                </a:solidFill>
                <a:latin typeface="Helvetica Neue"/>
                <a:ea typeface="Helvetica Neue"/>
                <a:cs typeface="Helvetica Neue"/>
              </a:rPr>
              <a:t>42°52′ N  ·  74°36′ E</a:t>
            </a:r>
          </a:p>
        </p:txBody>
      </p:sp>
    </p:spTree>
    <p:extLst>
      <p:ext uri="{BB962C8B-B14F-4D97-AF65-F5344CB8AC3E}">
        <p14:creationId xmlns:p14="http://schemas.microsoft.com/office/powerpoint/2010/main" val="18337974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199C9B-186A-4407-8EDC-A719C500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ЧТО МЕНЯЕТ TWIN BISHKEK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BAE75-3F0E-469B-82A9-8636DC41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337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Городским решениям не хватает оценки последствий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A8909-BC41-46E6-A323-4ED05771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Проект связывает объект, район и показатели в одном сценарии до начала работ.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79552-7399-4FBE-9255-77768C8F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6DFE2-00E2-4020-8A21-4F404087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Связанные эффекты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B6E88-A392-4E1D-BA3B-F09CBF12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2209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Трафик влияет на время в пути, воздух и комфорт — показатели нужно рассматривать вместе.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04635-3DEC-44A3-9C1C-AE84FEF7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28950"/>
            <a:ext cx="0" cy="2276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CE875-A0A8-4811-92E3-D096D114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289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6781D-FDA3-4A2B-A443-588CF98A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623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Локальность влияния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F9C34-AA85-4641-98C5-6DFCBAD9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2209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Новый объект прежде всего меняет ближайшие улицы; эффект должен учитывать расстояние.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A1058-2D52-4DF3-A0B5-0D7040DC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0" cy="2276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9DD55-AC98-4FB9-9A31-051324EA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289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7213C-B896-4BC6-88A0-BB9A3FCA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623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Нет сравнения «что если»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0993D-C37F-48D9-B101-1C6E20B5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43400"/>
            <a:ext cx="2209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Застройку, перекрытие и час пик важно сравнить до принятия решения.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77D59-F41D-4EA5-849A-80D67079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0" cy="2276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D24D6D-3196-45AF-85DB-7A510764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289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BF9A69-D99C-4E94-8171-55979ADB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623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Сложно объяснить вывод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7E7FB-4F8C-420C-9C88-DB559E20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43400"/>
            <a:ext cx="2209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Карта и вклад факторов показывают, где ожидается изменение и почему.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51188-A9A1-4D99-AA55-1AC3694F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E8B9FE-E79B-4BF5-8A83-9E734D32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81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Подход проекта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58504-A8E3-4DF6-B1A7-60413FB4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7340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Проект связывает объект и последствия для района в одном сценарии.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8DADBD-743C-423C-A465-8DC5A93F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1064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8A929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8A92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A929E"/>
                </a:solidFill>
                <a:latin typeface="Helvetica Neue"/>
                <a:ea typeface="Helvetica Neue"/>
                <a:cs typeface="Helvetica Neue"/>
              </a:rPr>
              <a:t>Сейчас показатели — модельные оценки; для точных прогнозов модель нужно калибровать на фактических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81649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F95A10-020D-4CDF-83BF-4C97491A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EDF47-AA6A-4221-9782-6247CAF9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337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Один сценарий задаётся несколькими настройками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248D2-FB21-4B0F-B753-ACE38481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Меняем параметры и сразу сравниваем базу с вариантом развития.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C459A-53ED-4648-A068-13DE20C9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ВХОДНЫЕ ПАРАМЕТРЫ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72A38-A78B-4D02-80C6-BA77A680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l"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Район и объект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5FC79-DE94-4175-A58B-BEBF6B12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6710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Джал · ЖК, торговый центр или парк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784FA-5C8C-4EC1-AA8A-027386AF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626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725FD-E9D8-4C68-B7C5-38CD99CB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l"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Время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33BBD-6513-4CE0-9EEE-183BDA85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5765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00:00–23:00 · будни или выходной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3CE81-AEC3-47B6-A1FB-4856BDE6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626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6BFC7-3EA7-4B25-8CE9-CF0D9562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l"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Изменения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9D4CF-C674-46CA-94A0-25404B57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4820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Автопарк · доля EV · зелёные зоны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FE4C2-6725-4CD7-B38C-E148725F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626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EA1BD-09E7-41F6-94D9-744F5077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>
            <a:defPPr algn="l"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События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42C98-02AA-4200-BE80-26095DF8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3875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Перекрытие · ремонт моста · концерт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73516-4919-4F64-AA37-303F5DE6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9900"/>
            <a:ext cx="0" cy="2971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0E191-E828-4EA0-83F9-4DB635F4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03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4739A-980D-42F0-9804-DF133288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861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Трафик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D23B9-688C-4325-A407-1C8A3EE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38575"/>
            <a:ext cx="3257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задержка в пути · скорость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9FEC45-DCF0-41CF-9A6B-B2608997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338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Воздух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F28B7C-F28E-4732-B5F4-2F1F9DD3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86300"/>
            <a:ext cx="3257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PM2.5 · AQI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79FEE2-C35D-44AB-9975-9510C9C2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Район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C60ACD-98C4-454A-B782-54FF8EF6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34025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57"/>
          </a:bodyPr>
          <a:lstStyle xmlns:a="http://schemas.openxmlformats.org/drawingml/2006/main">
            <a:defPPr algn="l"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комфорт · 3D-модель · карта сценария</a:t>
            </a:r>
          </a:p>
        </p:txBody>
      </p:sp>
    </p:spTree>
    <p:extLst>
      <p:ext uri="{BB962C8B-B14F-4D97-AF65-F5344CB8AC3E}">
        <p14:creationId xmlns:p14="http://schemas.microsoft.com/office/powerpoint/2010/main" val="8612225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556F5-0EAC-4A67-B1C2-423F6CE0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ВРЕМЯ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3BD6F-1FEC-444A-B0CD-14094045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337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Один объект даёт разные сценарии в течение суток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9116C-903B-4750-B598-BE21BD25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Выбор часа меняет профиль трафика и активность выбранного объекта.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0B9E881-49F5-47B0-BFED-DE990A263CD7}"/>
              </a:ext>
            </a:extLst>
          </p:cNvPr>
          <p:cNvGraphicFramePr/>
          <p:nvPr/>
        </p:nvGraphicFramePr>
        <p:xfrm>
          <a:off xmlns:a="http://schemas.openxmlformats.org/drawingml/2006/main" x="723900" y="2914650"/>
          <a:ext xmlns:a="http://schemas.openxmlformats.org/drawingml/2006/main" cx="7858125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4c0f43efaa4a7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28A20-685A-4A6D-8CF9-9DEB2246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194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08:00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AFA09-0D9F-4FD5-9306-B4FF5704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052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Утренний пик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в профиле модели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EB881-881B-43E6-805B-7AF1A815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53000"/>
            <a:ext cx="2333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39"/>
          </a:bodyPr>
          <a:lstStyle xmlns:a="http://schemas.openxmlformats.org/drawingml/2006/main">
            <a:defPPr algn="l"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Переключите час и сравните, как меняется расчётная задержка для того же проекта.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D90DB-F42B-44D3-B244-A220D709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0300"/>
            <a:ext cx="1061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8A929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8A92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29E"/>
                </a:solidFill>
                <a:latin typeface="Helvetica Neue"/>
                <a:ea typeface="Helvetica Neue"/>
                <a:cs typeface="Helvetica Neue"/>
              </a:rPr>
              <a:t>Коэффициенты на графике заданы в прототипе. Линии показывают логику модели, а не измеренную загруженность дорог.</a:t>
            </a:r>
          </a:p>
        </p:txBody>
      </p:sp>
    </p:spTree>
    <p:extLst>
      <p:ext uri="{BB962C8B-B14F-4D97-AF65-F5344CB8AC3E}">
        <p14:creationId xmlns:p14="http://schemas.microsoft.com/office/powerpoint/2010/main" val="7734497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A2E487-7DD5-457F-BD0D-A69A65FD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ЛОГИКА МОДЕЛИ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56A32-6292-4484-97E2-F4E574B5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337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Каждый фактор оставляет объяснимый след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43098-3651-48E6-931B-68E4584C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Пользователь видит, какие настройки дали изменение в сценарии.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F5A50-330D-433E-816B-494A2F02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666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4C9E8-5C9D-4DFE-9DDC-6F1D40A1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ДВС и электромобили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465BD-F01D-41C9-82D2-CFC6B972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289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ДВС влияет на трафик и расчётную долю выхлопов. EV сохраняет транспортный спрос.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59CE7-6D54-4E16-A134-EAD8E5B7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528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D8EEA-8D46-4B0C-BFDC-8EF42DA7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666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E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181DB-A40D-4931-B412-D3E00C01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Тип и масштаб объекта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2FA07-F6A8-495D-8A1E-C87E601C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3380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ЖК, торговый центр и парк используют разные коэффициенты активности по времени.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07FE4-73F7-45C7-8518-D8F88689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576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36013-7FB6-4F82-8107-7A9C071D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666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7A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8485F-F501-49D0-8864-CECD71AD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Перекрытие или ремонт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67DBF-777C-45A1-90C0-6D22C95B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386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Модель добавляет локальное перераспределение потока на соседние участки.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676CF-15D4-47B7-8289-FE4AF067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625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054AB-E604-4725-8A1F-B8290983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72075"/>
            <a:ext cx="666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7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88DBC-3F90-4947-8B96-E02AB063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Зелёные зоны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22DFA-1203-489E-AFD7-E7281E2A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4350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Изменение озеленения влияет на расчёт PM2.5 и комфорта района.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17418-81B1-43F7-ACFF-7B62BD1D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7217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Итоговые показатели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913FF-90EE-4339-85A2-1D050227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924550"/>
            <a:ext cx="833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минуты в пути   ·   км/ч   ·   PM2.5   ·   AQI   ·   комфорт района</a:t>
            </a:r>
          </a:p>
        </p:txBody>
      </p:sp>
    </p:spTree>
    <p:extLst>
      <p:ext uri="{BB962C8B-B14F-4D97-AF65-F5344CB8AC3E}">
        <p14:creationId xmlns:p14="http://schemas.microsoft.com/office/powerpoint/2010/main" val="17826631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4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947FB-D321-4862-A816-0600C0F8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88BDF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88B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8BDF3"/>
                </a:solidFill>
                <a:latin typeface="Helvetica Neue"/>
                <a:ea typeface="Helvetica Neue"/>
                <a:cs typeface="Helvetica Neue"/>
              </a:rPr>
              <a:t>КАРТА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09200-0A63-48E3-A7AE-21B0CB75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7061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На карте разделены наблюдение и оценка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95B78-5928-4AD0-92C4-8466D2EA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52675"/>
            <a:ext cx="423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88BDF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88B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88BDF3"/>
                </a:solidFill>
                <a:latin typeface="Helvetica Neue"/>
                <a:ea typeface="Helvetica Neue"/>
                <a:cs typeface="Helvetica Neue"/>
              </a:rPr>
              <a:t>СЕЙЧАС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C2003-7DF6-4241-8851-425774E3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4476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99"/>
          </a:bodyPr>
          <a:lstStyle xmlns:a="http://schemas.openxmlformats.org/drawingml/2006/main">
            <a:defPPr algn="l">
              <a:defRPr sz="4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2GIS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2B3C7-B11A-4CD1-A2FE-02C6B7D8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4400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C4CBD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C4CB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C4CBD5"/>
                </a:solidFill>
                <a:latin typeface="Helvetica Neue"/>
                <a:ea typeface="Helvetica Neue"/>
                <a:cs typeface="Helvetica Neue"/>
              </a:rPr>
              <a:t>Текущий цветной слой пробок. Индекс относится к видимой области карты и времени наблюдения.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68F2C-A76C-4777-A026-3560D8D6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57425"/>
            <a:ext cx="0" cy="2609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B46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769D8-DCBF-43C4-94C1-5082F1C1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52675"/>
            <a:ext cx="423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88BDF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88B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88BDF3"/>
                </a:solidFill>
                <a:latin typeface="Helvetica Neue"/>
                <a:ea typeface="Helvetica Neue"/>
                <a:cs typeface="Helvetica Neue"/>
              </a:rPr>
              <a:t>СЦЕНАРИЙ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F3897-F63B-4A51-B0F1-4C75E363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71775"/>
            <a:ext cx="46863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Twin Bishkek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3BE28-7EF1-46FB-9832-F5BA63CC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14750"/>
            <a:ext cx="4533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C4CBD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C4CB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C4CBD5"/>
                </a:solidFill>
                <a:latin typeface="Helvetica Neue"/>
                <a:ea typeface="Helvetica Neue"/>
                <a:cs typeface="Helvetica Neue"/>
              </a:rPr>
              <a:t>Модель распределяет расчётную нагрузку по уличной геометрии OpenStreetMap для выбранного часа и параметров.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B435F-067D-48A0-AAB5-386CBDA5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05425"/>
            <a:ext cx="106489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E42D4-CA31-4EEC-A006-39B88AD6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91175"/>
            <a:ext cx="1053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2C8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2C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2C876"/>
                </a:solidFill>
                <a:latin typeface="Helvetica Neue"/>
                <a:ea typeface="Helvetica Neue"/>
                <a:cs typeface="Helvetica Neue"/>
              </a:rPr>
              <a:t>Цвет сценарного слоя — модельная оценка. Он не означает, что 2GIS измерил будущую пробку на этой улице.</a:t>
            </a:r>
          </a:p>
        </p:txBody>
      </p:sp>
    </p:spTree>
    <p:extLst>
      <p:ext uri="{BB962C8B-B14F-4D97-AF65-F5344CB8AC3E}">
        <p14:creationId xmlns:p14="http://schemas.microsoft.com/office/powerpoint/2010/main" val="10852175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66A0E-D903-4328-BE69-D59C6774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ТЕКУЩИЙ СТАТУС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653ED-00D0-44E7-86BD-59A22C73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337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Источники данных и их границы видны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43CA2-7077-43DD-8DF5-4E43F5FF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Это основа доверия к результату и план калибровки.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C03BB-781E-4781-810C-85C748AF9D4D}"/>
              </a:ext>
            </a:extLst>
          </p:cNvPr>
          <p:cNvGraphicFramePr/>
          <p:nvPr/>
        </p:nvGraphicFramePr>
        <p:xfrm>
          <a:off xmlns:a="http://schemas.openxmlformats.org/drawingml/2006/main" x="723900" y="2876550"/>
          <a:ext xmlns:a="http://schemas.openxmlformats.org/drawingml/2006/main" cx="10744200" cy="3124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62125"/>
                <a:gridCol w="4095750"/>
                <a:gridCol w="4886325"/>
              </a:tblGrid>
              <a:tr h="514350">
                <a:tc>
                  <a:txBody>
                    <a:bodyPr wrap="square" lIns="114300" tIns="76200" rIns="95250" bIns="7620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517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Источник</a:t>
                      </a:r>
                    </a:p>
                  </a:txBody>
                  <a:tcPr marL="91440" marR="91440" marT="45720" marB="45720" anchor="ctr">
                    <a:solidFill>
                      <a:srgbClr val="E9EEF4"/>
                    </a:solidFill>
                  </a:tcPr>
                </a:tc>
                <a:tc>
                  <a:txBody>
                    <a:bodyPr wrap="square" lIns="114300" tIns="76200" rIns="95250" bIns="7620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517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Уже используется</a:t>
                      </a:r>
                    </a:p>
                  </a:txBody>
                  <a:tcPr marL="91440" marR="91440" marT="45720" marB="45720" anchor="ctr">
                    <a:solidFill>
                      <a:srgbClr val="E9EEF4"/>
                    </a:solidFill>
                  </a:tcPr>
                </a:tc>
                <a:tc>
                  <a:txBody>
                    <a:bodyPr wrap="square" lIns="114300" tIns="76200" rIns="95250" bIns="7620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517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Ограничение текущей версии</a:t>
                      </a:r>
                    </a:p>
                  </a:txBody>
                  <a:tcPr marL="91440" marR="91440" marT="45720" marB="45720" anchor="ctr">
                    <a:solidFill>
                      <a:srgbClr val="E9EEF4"/>
                    </a:solidFill>
                  </a:tcPr>
                </a:tc>
              </a:tr>
              <a:tr h="652463">
                <a:tc>
                  <a:txBody>
                    <a:bodyPr wrap="square" lIns="114300" tIns="76200" rIns="95250" bIns="76200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517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2GIS MapGL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30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Текущий слой пробок и индекс области карты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30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сохранённый score. Это не статус каждой улицы.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 wrap="square" lIns="114300" tIns="76200" rIns="95250" bIns="76200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517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OSM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30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769 линий дорог, снимок 08.10.2026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30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Геометрия улиц не содержит данных о пробках.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 wrap="square" lIns="114300" tIns="76200" rIns="95250" bIns="76200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517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CAMS Global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30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 сохранённых экологических снимков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30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Сетка около 45 км и шаг прогноза 3 часа. Это фон региона.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 wrap="square" lIns="114300" tIns="76200" rIns="95250" bIns="76200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5171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Модель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30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Сценарии и разбор вкладов факторов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95250" bIns="762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3034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Коэффициенты не откалиброваны. Обученной ML-модели пока нет.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E1D86-4D49-4CCF-8B53-34398B85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626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8A929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8A92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29E"/>
                </a:solidFill>
                <a:latin typeface="Helvetica Neue"/>
                <a:ea typeface="Helvetica Neue"/>
                <a:cs typeface="Helvetica Neue"/>
              </a:rPr>
              <a:t>Состояние локального архива на 09.10.2026. Частый опрос API не означает, что прогноз CAMS обновлялся с той же частотой.</a:t>
            </a:r>
          </a:p>
        </p:txBody>
      </p:sp>
    </p:spTree>
    <p:extLst>
      <p:ext uri="{BB962C8B-B14F-4D97-AF65-F5344CB8AC3E}">
        <p14:creationId xmlns:p14="http://schemas.microsoft.com/office/powerpoint/2010/main" val="13821736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3C0A3B-120A-4F74-82FA-2A5DE9BA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СЛЕДУЮЩИЙ ЭТАП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CAC48-4FC0-4E7E-9FC0-0816A302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337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Путь к проверяемому прогнозу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62A06-514B-473F-B590-4A6B5BFC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Каждый шаг добавляет доказательства, а не новые обещания точности.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655F8-0657-450A-8C06-06EF93EC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1947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8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40BD3-48D1-45CC-B02B-0E84C8CB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5B917-F9B0-4C64-AE7F-D0E821B1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90875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C2507-7185-49B4-80E6-FB5FBA2F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Доступ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450C3-012F-4A70-8BD6-1BACB1B0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050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Согласовать с 2GIS поля потока по сегментам, покрытие Бишкека и право хранить данные.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5C5D6-0B96-419E-9ED9-E2CD4EF9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766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F69A9-23E8-4D35-B017-28733B20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190875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48453-49A9-4754-BE3F-22205D0D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81425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Архив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5748B-1134-420C-B0B7-644F388A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050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Сохранять сегмент, время, скорость или уровень пробки и источник наблюдения.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31347-58A9-4C74-8374-F638164F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571FC-20D5-42D5-BBBD-38A95F94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190875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5EC34-290A-496B-8B6C-6B72985D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81425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Калибровка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37DAD-481E-4CD4-8FA4-A71A6F09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050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267"/>
          </a:bodyPr>
          <a:lstStyle xmlns:a="http://schemas.openxmlformats.org/drawingml/2006/main">
            <a:defPPr algn="l"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Проверить коэффициенты по часам и классам дорог. ML рассматривать после накопления размеченной истории.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68725-ADFB-4759-BC42-7536E792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766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E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91B5E9-F3BC-4249-96D1-5D6C2D33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190875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1E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41C3EE-5932-47DC-A036-8DE0B3F9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81425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5171B"/>
                </a:solidFill>
                <a:latin typeface="Helvetica Neue"/>
                <a:ea typeface="Helvetica Neue"/>
                <a:cs typeface="Helvetica Neue"/>
              </a:rPr>
              <a:t>Проверка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2E6D92-A599-47B6-9BD6-0548EE0F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050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77"/>
          </a:bodyPr>
          <a:lstStyle xmlns:a="http://schemas.openxmlformats.org/drawingml/2006/main">
            <a:defPPr algn="l"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9717C"/>
                </a:solidFill>
                <a:latin typeface="Helvetica Neue"/>
                <a:ea typeface="Helvetica Neue"/>
                <a:cs typeface="Helvetica Neue"/>
              </a:rPr>
              <a:t>Сравнить результат с отложенными наблюдениями. Показать ошибку и долю покрытия улиц.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85B84E-25C6-483B-B6A2-ABD479AA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15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350" b="0">
                <a:solidFill>
                  <a:srgbClr val="8A929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8A92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8A929E"/>
                </a:solidFill>
                <a:latin typeface="Helvetica Neue"/>
                <a:ea typeface="Helvetica Neue"/>
                <a:cs typeface="Helvetica Neue"/>
              </a:rPr>
              <a:t>2GIS On-Premise документирует векторный и растровый трафик для отображения на картах. Структуру полей по улицам и условия хранения нужно подтвердить у провайдера.</a:t>
            </a:r>
          </a:p>
        </p:txBody>
      </p:sp>
    </p:spTree>
    <p:extLst>
      <p:ext uri="{BB962C8B-B14F-4D97-AF65-F5344CB8AC3E}">
        <p14:creationId xmlns:p14="http://schemas.microsoft.com/office/powerpoint/2010/main" val="21056816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4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7DFBD-44AA-490F-9E6B-483DD79D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88BDF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88B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8BDF3"/>
                </a:solidFill>
                <a:latin typeface="Helvetica Neue"/>
                <a:ea typeface="Helvetica Neue"/>
                <a:cs typeface="Helvetica Neue"/>
              </a:rPr>
              <a:t>ПАРТНЁРСТВО С 2GIS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562A2-8C95-4E41-A23F-839C4DC4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2GIS готов к сотрудничеству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54EED-F7D9-4FC1-B908-C65F8DE5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CFD5D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CFD5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FD5DE"/>
                </a:solidFill>
                <a:latin typeface="Helvetica Neue"/>
                <a:ea typeface="Helvetica Neue"/>
                <a:cs typeface="Helvetica Neue"/>
              </a:rPr>
              <a:t>Мы уже обсудили совместную работу. 2GIS готов предоставить данные для дальнейшего обучения и калибровки модели.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D9538-9265-4328-9F92-CE95DBD0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CFD5D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CFD5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CFD5DE"/>
                </a:solidFill>
                <a:latin typeface="Helvetica Neue"/>
                <a:ea typeface="Helvetica Neue"/>
                <a:cs typeface="Helvetica Neue"/>
              </a:rPr>
              <a:t>Предлагаем начать с Джала: один объект и будний час пик.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FA924-7DB8-4435-9DE9-608B3F6F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B46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76592-B4B0-4C82-88E6-4CFF2BBA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88BDF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88BD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8BDF3"/>
                </a:solidFill>
                <a:latin typeface="Helvetica Neue"/>
                <a:ea typeface="Helvetica Neue"/>
                <a:cs typeface="Helvetica Neue"/>
              </a:rPr>
              <a:t>СЛЕДУЮЩИЙ ШАГ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6A488-4A2E-437C-BB24-CBCAB843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Согласовать охват дорог, формат и условия использования данных.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D3731-286B-4EAC-B36A-C39D6F3A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027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AB5C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AAB5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AB5C3"/>
                </a:solidFill>
                <a:latin typeface="Helvetica Neue"/>
                <a:ea typeface="Helvetica Neue"/>
                <a:cs typeface="Helvetica Neue"/>
              </a:rPr>
              <a:t>В пилоте измерим покрытие сети и ошибку модели на отложенных наблюдениях.</a:t>
            </a:r>
          </a:p>
        </p:txBody>
      </p:sp>
    </p:spTree>
    <p:extLst>
      <p:ext uri="{BB962C8B-B14F-4D97-AF65-F5344CB8AC3E}">
        <p14:creationId xmlns:p14="http://schemas.microsoft.com/office/powerpoint/2010/main" val="735654664"/>
      </p:ext>
    </p:extLst>
  </p:cSld>
</p:sld>
</file>

<file path=ppt/theme/theme1.xml><?xml version="1.0" encoding="utf-8"?>
<a:theme xmlns:a="http://schemas.openxmlformats.org/drawingml/2006/main" name="ChatGPT">
  <a:themeElements>
    <a:clrScheme name="Twin Bishkek">
      <a:dk1>
        <a:srgbClr val="000000"/>
      </a:dk1>
      <a:lt1>
        <a:srgbClr val="FFFFFF"/>
      </a:lt1>
      <a:dk2>
        <a:srgbClr val="10141D"/>
      </a:dk2>
      <a:lt2>
        <a:srgbClr val="D9DEE5"/>
      </a:lt2>
      <a:accent1>
        <a:srgbClr val="0071E3"/>
      </a:accent1>
      <a:accent2>
        <a:srgbClr val="2D9E66"/>
      </a:accent2>
      <a:accent3>
        <a:srgbClr val="C27A09"/>
      </a:accent3>
      <a:accent4>
        <a:srgbClr val="C54843"/>
      </a:accent4>
      <a:accent5>
        <a:srgbClr val="7357B7"/>
      </a:accent5>
      <a:accent6>
        <a:srgbClr val="4797A5"/>
      </a:accent6>
      <a:hlink>
        <a:srgbClr val="0071E3"/>
      </a:hlink>
      <a:folHlink>
        <a:srgbClr val="7357B7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Twin Bishke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2026-10-09T11:49:38.7360000Z</dcterms:created>
  <dcterms:modified xsi:type="dcterms:W3CDTF">2026-10-09T11:49:38.7360000Z</dcterms:modified>
</coreProperties>
</file>